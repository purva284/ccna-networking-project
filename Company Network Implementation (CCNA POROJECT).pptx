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76" r:id="rId6"/>
    <p:sldId id="261" r:id="rId7"/>
    <p:sldId id="262" r:id="rId8"/>
    <p:sldId id="275" r:id="rId9"/>
    <p:sldId id="263" r:id="rId10"/>
    <p:sldId id="264" r:id="rId11"/>
    <p:sldId id="265" r:id="rId12"/>
    <p:sldId id="266" r:id="rId13"/>
    <p:sldId id="267" r:id="rId14"/>
    <p:sldId id="268" r:id="rId15"/>
    <p:sldId id="279" r:id="rId16"/>
    <p:sldId id="270" r:id="rId17"/>
    <p:sldId id="271" r:id="rId18"/>
    <p:sldId id="272" r:id="rId19"/>
    <p:sldId id="273" r:id="rId20"/>
    <p:sldId id="277" r:id="rId21"/>
    <p:sldId id="278" r:id="rId22"/>
    <p:sldId id="274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Multi-Site Enterprise Network Design and Implementation.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Network Design, Configuration and </a:t>
            </a:r>
            <a:r>
              <a:rPr lang="en-US" dirty="0" smtClean="0"/>
              <a:t>Implementation</a:t>
            </a:r>
          </a:p>
          <a:p>
            <a:pPr algn="ctr"/>
            <a:r>
              <a:rPr lang="en-US" dirty="0" smtClean="0"/>
              <a:t>Presented BY:  Purva Bhujbal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20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Introduction 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2149776"/>
            <a:ext cx="1014960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company network connects different departments, offices, servers, and management systems.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project focuses on designing a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structured and interconnected company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network is divided into Main Office, Branch Office, Management Network, and External Network.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Routers and switches are used to connect different network segments.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Important networking services and protocols are configured and tested.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complete network is designed and implemented using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Cisco Packet Tracer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1336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23875"/>
            <a:ext cx="8761413" cy="706438"/>
          </a:xfrm>
          <a:noFill/>
        </p:spPr>
        <p:txBody>
          <a:bodyPr/>
          <a:lstStyle/>
          <a:p>
            <a:pPr algn="ctr"/>
            <a:r>
              <a:rPr lang="en-IN" dirty="0" smtClean="0">
                <a:latin typeface="+mn-lt"/>
              </a:rPr>
              <a:t>Topology</a:t>
            </a:r>
            <a:endParaRPr lang="en-IN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0706" y="269729"/>
            <a:ext cx="788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latin typeface="Arial Black" panose="020B0A04020102020204" pitchFamily="34" charset="0"/>
              </a:rPr>
              <a:t>TOPOLOGY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297"/>
            <a:ext cx="12192000" cy="594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8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Objectives</a:t>
            </a:r>
            <a:endParaRPr lang="en-IN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0991" y="2284930"/>
            <a:ext cx="1012969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Design a structured network for different company departments and locations.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IP addressing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 the different network segments.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Implement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DHCP and DNS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 network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OSPF, RIP, and BGP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 communication between networks.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Implement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external network communication.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Enable remote management using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SSH and Telnet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 and verify the configured network using appropriate commands and simulations. </a:t>
            </a:r>
          </a:p>
        </p:txBody>
      </p:sp>
    </p:spTree>
    <p:extLst>
      <p:ext uri="{BB962C8B-B14F-4D97-AF65-F5344CB8AC3E}">
        <p14:creationId xmlns:p14="http://schemas.microsoft.com/office/powerpoint/2010/main" val="271219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This Project Supports Industries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2187995"/>
            <a:ext cx="920957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Connects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multiple offices and departments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through one network.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DHCP and DNS make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network management easier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OSPF, RIP and BGP provide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reliable communication between networks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NAT enables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external network connectivity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SSH and Telnet support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remote device management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network can be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expanded as the organization grows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/>
              <a:t>Industry Applications: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IT Companies • Banking • Education • Healthcare • Multinational Companies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2721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Network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506518"/>
            <a:ext cx="10081082" cy="408824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Network Devices</a:t>
            </a:r>
            <a:endParaRPr lang="en-IN" dirty="0"/>
          </a:p>
          <a:p>
            <a:pPr marL="0" indent="0">
              <a:buNone/>
            </a:pPr>
            <a:r>
              <a:rPr lang="en-IN" b="1" dirty="0" smtClean="0"/>
              <a:t>      Routers</a:t>
            </a:r>
            <a:r>
              <a:rPr lang="en-IN" b="1" dirty="0"/>
              <a:t>:</a:t>
            </a:r>
            <a:r>
              <a:rPr lang="en-IN" dirty="0"/>
              <a:t> R1, R2, R3, R4 — connect different networks and handle routing. </a:t>
            </a:r>
          </a:p>
          <a:p>
            <a:pPr marL="0" indent="0">
              <a:buNone/>
            </a:pPr>
            <a:r>
              <a:rPr lang="en-IN" b="1" dirty="0" smtClean="0"/>
              <a:t>      Switches</a:t>
            </a:r>
            <a:r>
              <a:rPr lang="en-IN" b="1" dirty="0"/>
              <a:t>:</a:t>
            </a:r>
            <a:r>
              <a:rPr lang="en-IN" dirty="0"/>
              <a:t> SW1–SW6 — connect devices within the different network sections. </a:t>
            </a:r>
          </a:p>
          <a:p>
            <a:pPr marL="0" indent="0">
              <a:buNone/>
            </a:pPr>
            <a:r>
              <a:rPr lang="en-IN" b="1" dirty="0" smtClean="0"/>
              <a:t>      End </a:t>
            </a:r>
            <a:r>
              <a:rPr lang="en-IN" b="1" dirty="0"/>
              <a:t>Devices:</a:t>
            </a:r>
            <a:r>
              <a:rPr lang="en-IN" dirty="0"/>
              <a:t> PCs and Management Laptop — represent users and administrative access.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 smtClean="0"/>
              <a:t>Servers</a:t>
            </a:r>
            <a:endParaRPr lang="en-IN" dirty="0"/>
          </a:p>
          <a:p>
            <a:pPr marL="0" indent="0">
              <a:buNone/>
            </a:pPr>
            <a:r>
              <a:rPr lang="en-IN" b="1" dirty="0" smtClean="0"/>
              <a:t>     Server1</a:t>
            </a:r>
            <a:r>
              <a:rPr lang="en-IN" b="1" dirty="0"/>
              <a:t>:</a:t>
            </a:r>
            <a:r>
              <a:rPr lang="en-IN" dirty="0"/>
              <a:t> DHCP and DNS services for the Main Office. </a:t>
            </a:r>
            <a:endParaRPr lang="en-IN" dirty="0" smtClean="0"/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b="1" dirty="0" smtClean="0"/>
              <a:t>     Server2</a:t>
            </a:r>
            <a:r>
              <a:rPr lang="en-IN" b="1" dirty="0"/>
              <a:t>:</a:t>
            </a:r>
            <a:r>
              <a:rPr lang="en-IN" dirty="0"/>
              <a:t> Monitoring Server for the Management Network. </a:t>
            </a: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     Server3</a:t>
            </a:r>
            <a:r>
              <a:rPr lang="en-IN" b="1" dirty="0"/>
              <a:t>:</a:t>
            </a:r>
            <a:r>
              <a:rPr lang="en-IN" dirty="0"/>
              <a:t> External Server representing the external network.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Networking Technologies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IP </a:t>
            </a:r>
            <a:r>
              <a:rPr lang="en-IN" dirty="0"/>
              <a:t>Addressing </a:t>
            </a:r>
            <a:r>
              <a:rPr lang="en-IN" dirty="0" smtClean="0"/>
              <a:t>, </a:t>
            </a:r>
            <a:r>
              <a:rPr lang="en-IN" dirty="0"/>
              <a:t>DHCP &amp; </a:t>
            </a:r>
            <a:r>
              <a:rPr lang="en-IN" dirty="0" smtClean="0"/>
              <a:t>DNS, ARP,  OSPF</a:t>
            </a:r>
            <a:r>
              <a:rPr lang="en-IN" dirty="0"/>
              <a:t>, RIP &amp; </a:t>
            </a:r>
            <a:r>
              <a:rPr lang="en-IN" dirty="0" smtClean="0"/>
              <a:t>BGP, NAT, SSH </a:t>
            </a:r>
            <a:r>
              <a:rPr lang="en-IN" dirty="0"/>
              <a:t>&amp; Telnet</a:t>
            </a:r>
          </a:p>
        </p:txBody>
      </p:sp>
    </p:spTree>
    <p:extLst>
      <p:ext uri="{BB962C8B-B14F-4D97-AF65-F5344CB8AC3E}">
        <p14:creationId xmlns:p14="http://schemas.microsoft.com/office/powerpoint/2010/main" val="236406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IP Addressing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328355"/>
              </p:ext>
            </p:extLst>
          </p:nvPr>
        </p:nvGraphicFramePr>
        <p:xfrm>
          <a:off x="1269515" y="2617354"/>
          <a:ext cx="98695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723">
                  <a:extLst>
                    <a:ext uri="{9D8B030D-6E8A-4147-A177-3AD203B41FA5}">
                      <a16:colId xmlns:a16="http://schemas.microsoft.com/office/drawing/2014/main" val="811613016"/>
                    </a:ext>
                  </a:extLst>
                </a:gridCol>
                <a:gridCol w="3262908">
                  <a:extLst>
                    <a:ext uri="{9D8B030D-6E8A-4147-A177-3AD203B41FA5}">
                      <a16:colId xmlns:a16="http://schemas.microsoft.com/office/drawing/2014/main" val="253191158"/>
                    </a:ext>
                  </a:extLst>
                </a:gridCol>
                <a:gridCol w="3262908">
                  <a:extLst>
                    <a:ext uri="{9D8B030D-6E8A-4147-A177-3AD203B41FA5}">
                      <a16:colId xmlns:a16="http://schemas.microsoft.com/office/drawing/2014/main" val="3361970986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Network Section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Network Address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Gateway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76161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Main</a:t>
                      </a:r>
                      <a:r>
                        <a:rPr lang="en-IN" baseline="0" dirty="0" smtClean="0"/>
                        <a:t> Office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192.168.10.0/24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192.168.10.1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70913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Branch Office</a:t>
                      </a:r>
                      <a:r>
                        <a:rPr lang="en-IN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192.168.20.0/24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192.168.20.1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722644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Management Network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192.168.30.0/24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192.168.30.1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015884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R1 –</a:t>
                      </a:r>
                      <a:r>
                        <a:rPr lang="en-IN" baseline="0" dirty="0" smtClean="0"/>
                        <a:t> R2 Link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10.0.0.0/30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45142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R2 – R3 Link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10.0.0.4/30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947679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R3 – R4 Link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10.0.0.8/30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376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External Network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203.0.113.0/24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203.0.113.1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25196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130969" y="5654271"/>
            <a:ext cx="9869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DHCP is used for Main Office PCs, while servers, routers, branch devices, and management devices use assigned static IP </a:t>
            </a:r>
            <a:r>
              <a:rPr lang="en-US" dirty="0" smtClean="0"/>
              <a:t>addresses.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90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DHCP-</a:t>
            </a:r>
            <a:r>
              <a:rPr lang="en-IN" dirty="0"/>
              <a:t>Dynamic Host Configuration Protocol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65009" y="3162686"/>
            <a:ext cx="4824413" cy="2725496"/>
          </a:xfrm>
          <a:prstGeom prst="rect">
            <a:avLst/>
          </a:prstGeom>
        </p:spPr>
      </p:pic>
      <p:sp>
        <p:nvSpPr>
          <p:cNvPr id="10" name="Rectangle 2"/>
          <p:cNvSpPr>
            <a:spLocks noGrp="1" noChangeArrowheads="1"/>
          </p:cNvSpPr>
          <p:nvPr>
            <p:ph sz="half" idx="2"/>
          </p:nvPr>
        </p:nvSpPr>
        <p:spPr bwMode="auto">
          <a:xfrm>
            <a:off x="1000125" y="2381669"/>
            <a:ext cx="499889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Automatically assigns IP addresses to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Provides subnet mask, default gateway, and DNS.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on Server1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for Main Office PCs.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Reduces manual IP configuration.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 PC1 received 192.168.10.14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automatically </a:t>
            </a:r>
          </a:p>
        </p:txBody>
      </p:sp>
    </p:spTree>
    <p:extLst>
      <p:ext uri="{BB962C8B-B14F-4D97-AF65-F5344CB8AC3E}">
        <p14:creationId xmlns:p14="http://schemas.microsoft.com/office/powerpoint/2010/main" val="127865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DNS = Domain Name System.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51542" y="3161178"/>
            <a:ext cx="3762900" cy="2595869"/>
          </a:xfrm>
          <a:prstGeom prst="rect">
            <a:avLst/>
          </a:prstGeom>
        </p:spPr>
      </p:pic>
      <p:sp>
        <p:nvSpPr>
          <p:cNvPr id="11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154954" y="2603492"/>
            <a:ext cx="48025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Converts domain names into IP addresses.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on Server1.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DNS Server: 192.168.10.100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Domain: www.company.com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Resolves the domain to 192.168.10.100. </a:t>
            </a:r>
          </a:p>
        </p:txBody>
      </p:sp>
    </p:spTree>
    <p:extLst>
      <p:ext uri="{BB962C8B-B14F-4D97-AF65-F5344CB8AC3E}">
        <p14:creationId xmlns:p14="http://schemas.microsoft.com/office/powerpoint/2010/main" val="2815961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defTabSz="914400" eaLnBrk="0" fontAlgn="base" hangingPunct="0"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</a:rPr>
              <a:t>Address Resolution Protocol (ARP)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42412" y="2603500"/>
            <a:ext cx="3927369" cy="3416300"/>
          </a:xfrm>
          <a:prstGeom prst="rect">
            <a:avLst/>
          </a:prstGeom>
        </p:spPr>
      </p:pic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786270" y="4691425"/>
            <a:ext cx="31174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sz="half" idx="2"/>
          </p:nvPr>
        </p:nvSpPr>
        <p:spPr bwMode="auto">
          <a:xfrm>
            <a:off x="1514485" y="2280327"/>
            <a:ext cx="476162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Finds the MAC address using an IP address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within the same local network (LAN)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 my topology, it is used in the Main Office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PCs communicate with each other and the gateway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Tested using</a:t>
            </a:r>
            <a:r>
              <a:rPr kumimoji="0" lang="en-US" altLang="en-US" sz="18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arp</a:t>
            </a:r>
            <a:r>
              <a:rPr lang="en-US" altLang="en-US" dirty="0">
                <a:solidFill>
                  <a:schemeClr val="tx1"/>
                </a:solidFill>
              </a:rPr>
              <a:t> -a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22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Routing Protocols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65018" y="2603500"/>
            <a:ext cx="10500287" cy="34163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  </a:t>
            </a:r>
            <a:r>
              <a:rPr lang="en-US" dirty="0" smtClean="0"/>
              <a:t>Routing </a:t>
            </a:r>
            <a:r>
              <a:rPr lang="en-US" dirty="0"/>
              <a:t>protocols determine how data packets travel between different networks. In our project, three routing protocols are implemented for different parts of the network: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OSPF (Open Shortest Path First)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Used between </a:t>
            </a:r>
            <a:r>
              <a:rPr lang="en-US" b="1" dirty="0"/>
              <a:t>R1 and R2</a:t>
            </a:r>
            <a:r>
              <a:rPr lang="en-US" dirty="0"/>
              <a:t> for routing within the internal network.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RIP (Routing Information Protocol)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Used between </a:t>
            </a:r>
            <a:r>
              <a:rPr lang="en-US" b="1" dirty="0"/>
              <a:t>R2 and R3</a:t>
            </a:r>
            <a:r>
              <a:rPr lang="en-US" dirty="0"/>
              <a:t> to exchange routing information.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BGP (Border Gateway Protocol)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Used between </a:t>
            </a:r>
            <a:r>
              <a:rPr lang="en-US" b="1" dirty="0"/>
              <a:t>R3 and R4</a:t>
            </a:r>
            <a:r>
              <a:rPr lang="en-US" dirty="0"/>
              <a:t> to demonstrate routing between different autonomous </a:t>
            </a:r>
            <a:r>
              <a:rPr lang="en-US" dirty="0" smtClean="0"/>
              <a:t>systems.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R1 → R2: OSPF | R2 → R3: RIP | R3 → R4: BGP</a:t>
            </a:r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497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OSPF — Open Shortest Path First</a:t>
            </a:r>
            <a:endParaRPr lang="en-IN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sz="half" idx="1"/>
          </p:nvPr>
        </p:nvSpPr>
        <p:spPr bwMode="auto">
          <a:xfrm>
            <a:off x="498475" y="2410378"/>
            <a:ext cx="523730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OSPF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is a link-state routing protocol.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between R1 and R2.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Uses network information to determine the best available path.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routers exchange routing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Area 0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was used in the project.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Verified using: </a:t>
            </a:r>
            <a:r>
              <a:rPr lang="en-US" altLang="en-US" dirty="0" smtClean="0">
                <a:solidFill>
                  <a:schemeClr val="tx1"/>
                </a:solidFill>
              </a:rPr>
              <a:t>show </a:t>
            </a:r>
            <a:r>
              <a:rPr lang="en-US" altLang="en-US" dirty="0" err="1">
                <a:solidFill>
                  <a:schemeClr val="tx1"/>
                </a:solidFill>
              </a:rPr>
              <a:t>ip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ospf</a:t>
            </a:r>
            <a:r>
              <a:rPr lang="en-US" altLang="en-US" dirty="0">
                <a:solidFill>
                  <a:schemeClr val="tx1"/>
                </a:solidFill>
              </a:rPr>
              <a:t> neighbor</a:t>
            </a:r>
            <a:r>
              <a:rPr lang="en-US" altLang="en-US" sz="2400" dirty="0">
                <a:solidFill>
                  <a:schemeClr val="tx1"/>
                </a:solidFill>
              </a:rPr>
              <a:t>.</a:t>
            </a:r>
            <a:r>
              <a:rPr lang="en-US" altLang="en-US" sz="400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784764"/>
            <a:ext cx="4824412" cy="319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23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RIP -</a:t>
            </a:r>
            <a:r>
              <a:rPr lang="en-IN" dirty="0" smtClean="0"/>
              <a:t> </a:t>
            </a:r>
            <a:r>
              <a:rPr lang="en-IN" dirty="0"/>
              <a:t>Routing Information Protocol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923309"/>
            <a:ext cx="4824412" cy="3075709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484188" y="2295716"/>
            <a:ext cx="476668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RIP is a distance-vector routing                                    protocols.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between R2 and R3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Uses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hop count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select a route.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exchange routing information between routers.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RIP version 2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was used in the project.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Verified using </a:t>
            </a:r>
            <a:r>
              <a:rPr lang="en-US" altLang="en-US" dirty="0" smtClean="0">
                <a:solidFill>
                  <a:schemeClr val="tx1"/>
                </a:solidFill>
              </a:rPr>
              <a:t>show </a:t>
            </a:r>
            <a:r>
              <a:rPr lang="en-US" altLang="en-US" dirty="0" err="1">
                <a:solidFill>
                  <a:schemeClr val="tx1"/>
                </a:solidFill>
              </a:rPr>
              <a:t>ip</a:t>
            </a:r>
            <a:r>
              <a:rPr lang="en-US" altLang="en-US" dirty="0">
                <a:solidFill>
                  <a:schemeClr val="tx1"/>
                </a:solidFill>
              </a:rPr>
              <a:t> route rip</a:t>
            </a:r>
            <a:r>
              <a:rPr lang="en-US" altLang="en-US" sz="2400" dirty="0">
                <a:solidFill>
                  <a:schemeClr val="tx1"/>
                </a:solidFill>
              </a:rPr>
              <a:t>.</a:t>
            </a:r>
            <a:r>
              <a:rPr lang="en-US" altLang="en-US" sz="400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BGP </a:t>
            </a:r>
            <a:r>
              <a:rPr lang="en-IN" dirty="0"/>
              <a:t>— Border Gateway Protocol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410691"/>
            <a:ext cx="4824412" cy="3726873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442913" y="2536347"/>
            <a:ext cx="57658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BGP is a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path-vector routing protocol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between R3 and R4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to exchange routing information between different networks.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BGP neighbor relationship was established.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Verified using </a:t>
            </a:r>
            <a:r>
              <a:rPr lang="en-US" altLang="en-US" dirty="0">
                <a:solidFill>
                  <a:schemeClr val="tx1"/>
                </a:solidFill>
              </a:rPr>
              <a:t>show </a:t>
            </a:r>
            <a:r>
              <a:rPr lang="en-US" altLang="en-US" dirty="0" err="1">
                <a:solidFill>
                  <a:schemeClr val="tx1"/>
                </a:solidFill>
              </a:rPr>
              <a:t>ip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bgp</a:t>
            </a:r>
            <a:r>
              <a:rPr lang="en-US" altLang="en-US" dirty="0">
                <a:solidFill>
                  <a:schemeClr val="tx1"/>
                </a:solidFill>
              </a:rPr>
              <a:t> summary</a:t>
            </a:r>
            <a:r>
              <a:rPr lang="en-US" altLang="en-US" sz="2400" dirty="0">
                <a:solidFill>
                  <a:schemeClr val="tx1"/>
                </a:solidFill>
              </a:rPr>
              <a:t>.</a:t>
            </a:r>
            <a:r>
              <a:rPr lang="en-US" altLang="en-US" sz="4000" dirty="0">
                <a:solidFill>
                  <a:schemeClr val="tx1"/>
                </a:solidFill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75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NAT — Network Address Translation</a:t>
            </a:r>
          </a:p>
        </p:txBody>
      </p:sp>
      <p:pic>
        <p:nvPicPr>
          <p:cNvPr id="5" name="Content Placeholder 5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920686"/>
            <a:ext cx="4824412" cy="2781927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sz="half" idx="1"/>
          </p:nvPr>
        </p:nvSpPr>
        <p:spPr bwMode="auto">
          <a:xfrm>
            <a:off x="988699" y="1680632"/>
            <a:ext cx="4871773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dirty="0" smtClean="0"/>
              <a:t>NAT </a:t>
            </a:r>
            <a:r>
              <a:rPr lang="en-US" dirty="0"/>
              <a:t>translates IP addresses when data moves between different </a:t>
            </a:r>
            <a:r>
              <a:rPr lang="en-US" dirty="0" smtClean="0"/>
              <a:t>networks.</a:t>
            </a:r>
            <a:endParaRPr lang="en-US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on R4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provide communication with the external network.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NAT was tested using network traffic.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Verified using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show </a:t>
            </a:r>
            <a:r>
              <a:rPr lang="en-US" altLang="en-US" dirty="0" err="1">
                <a:solidFill>
                  <a:schemeClr val="tx1"/>
                </a:solidFill>
              </a:rPr>
              <a:t>ip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nat</a:t>
            </a:r>
            <a:r>
              <a:rPr lang="en-US" altLang="en-US" dirty="0">
                <a:solidFill>
                  <a:schemeClr val="tx1"/>
                </a:solidFill>
              </a:rPr>
              <a:t> translations</a:t>
            </a:r>
            <a:r>
              <a:rPr lang="en-US" altLang="en-US" sz="2400" dirty="0">
                <a:solidFill>
                  <a:schemeClr val="tx1"/>
                </a:solidFill>
              </a:rPr>
              <a:t>.</a:t>
            </a:r>
            <a:r>
              <a:rPr lang="en-US" altLang="en-US" sz="400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290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SSH </a:t>
            </a:r>
            <a:r>
              <a:rPr lang="en-IN" dirty="0"/>
              <a:t>— Secure Shell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705115"/>
            <a:ext cx="4824412" cy="351557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154954" y="2272129"/>
            <a:ext cx="4807913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SSH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provides secure remote access to network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on R2 for remote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SSH </a:t>
            </a:r>
            <a:r>
              <a:rPr lang="en-US" altLang="en-US" dirty="0">
                <a:solidFill>
                  <a:schemeClr val="tx1"/>
                </a:solidFill>
              </a:rPr>
              <a:t>was </a:t>
            </a:r>
            <a:r>
              <a:rPr lang="en-US" altLang="en-US" dirty="0" smtClean="0">
                <a:solidFill>
                  <a:schemeClr val="tx1"/>
                </a:solidFill>
              </a:rPr>
              <a:t>enabled</a:t>
            </a:r>
            <a:r>
              <a:rPr lang="en-US" altLang="en-US" b="1" dirty="0" smtClean="0">
                <a:solidFill>
                  <a:schemeClr val="tx1"/>
                </a:solidFill>
              </a:rPr>
              <a:t>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Version 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username and password were configured for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Management Laptop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was used to access R2 remotely.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Verified using: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</a:rPr>
              <a:t>show </a:t>
            </a:r>
            <a:r>
              <a:rPr lang="en-US" altLang="en-US" dirty="0" err="1">
                <a:solidFill>
                  <a:schemeClr val="tx1"/>
                </a:solidFill>
              </a:rPr>
              <a:t>ip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ssh</a:t>
            </a:r>
            <a:r>
              <a:rPr lang="en-US" altLang="en-US" sz="2400" dirty="0">
                <a:solidFill>
                  <a:schemeClr val="tx1"/>
                </a:solidFill>
              </a:rPr>
              <a:t>.</a:t>
            </a:r>
            <a:r>
              <a:rPr lang="en-US" altLang="en-US" sz="400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161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Telnet</a:t>
            </a:r>
            <a:endParaRPr lang="en-IN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154954" y="2187994"/>
            <a:ext cx="505375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Provides remote access to a network device through a terminal.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on R2 for remote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Management Laptop was used to connect to R2. </a:t>
            </a:r>
            <a:endParaRPr lang="en-US" altLang="en-US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Username and password authentication was configured.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Telnet connection was successfully tested. 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796116"/>
            <a:ext cx="4824412" cy="33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4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Packet Forwarding </a:t>
            </a:r>
            <a:endParaRPr lang="en-IN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Routers forward packets from the source network to the destination network.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destination IP address is checked to determine the route.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Routing tables identify the appropriate next hop.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OSPF, RIP, and BGP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provide routing information.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Packet movement was observed using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Simulation Mode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Cisco Packet Tracer.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Connectivity was verified through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ping tests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955446"/>
            <a:ext cx="4824412" cy="271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26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54954" y="890540"/>
            <a:ext cx="8761413" cy="706964"/>
          </a:xfrm>
        </p:spPr>
        <p:txBody>
          <a:bodyPr/>
          <a:lstStyle/>
          <a:p>
            <a:pPr algn="ctr"/>
            <a:r>
              <a:rPr lang="en-IN" dirty="0"/>
              <a:t>Testing &amp; </a:t>
            </a:r>
            <a:r>
              <a:rPr lang="en-IN" dirty="0" smtClean="0"/>
              <a:t>Results Content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154954" y="2451100"/>
            <a:ext cx="8825659" cy="34163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700" dirty="0"/>
              <a:t>The configured network was tested to verify connectivity, routing, and network services.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DHCP:</a:t>
            </a:r>
            <a:r>
              <a:rPr lang="en-US" sz="1700" dirty="0"/>
              <a:t> Main Office PCs successfully received IP addresses automatically.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DNS:</a:t>
            </a:r>
            <a:r>
              <a:rPr lang="en-US" sz="1700" dirty="0"/>
              <a:t> The configured domain name resolved to the assigned IP address.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OSPF:</a:t>
            </a:r>
            <a:r>
              <a:rPr lang="en-US" sz="1700" dirty="0"/>
              <a:t> R1 and R2 successfully established an OSPF neighbor relationship.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RIP:</a:t>
            </a:r>
            <a:r>
              <a:rPr lang="en-US" sz="1700" dirty="0"/>
              <a:t> R2 and R3 exchanged routing information successfully.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BGP:</a:t>
            </a:r>
            <a:r>
              <a:rPr lang="en-US" sz="1700" dirty="0"/>
              <a:t> R3 and R4 established a BGP session between AS 65001 and AS 65002.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NAT:</a:t>
            </a:r>
            <a:r>
              <a:rPr lang="en-US" sz="1700" dirty="0"/>
              <a:t> Address translation was verified on R4.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SSH &amp; Telnet:</a:t>
            </a:r>
            <a:r>
              <a:rPr lang="en-US" sz="1700" dirty="0"/>
              <a:t> Remote access to R2 was successfully tested from the Management Laptop.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/>
              <a:t>Connectivity:</a:t>
            </a:r>
            <a:r>
              <a:rPr lang="en-US" sz="1700" dirty="0"/>
              <a:t> Network interfaces and selected routes were verified using ping and router commands.</a:t>
            </a:r>
          </a:p>
        </p:txBody>
      </p:sp>
    </p:spTree>
    <p:extLst>
      <p:ext uri="{BB962C8B-B14F-4D97-AF65-F5344CB8AC3E}">
        <p14:creationId xmlns:p14="http://schemas.microsoft.com/office/powerpoint/2010/main" val="129085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 Faced During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427" y="2818728"/>
            <a:ext cx="8825659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DHCP was initially not assigning IP addresses to PCs.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One switch connection was down, affecting connectivity.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Configuring multiple routing protocols was challenging.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SSH, Telnet, and NAT required careful configuration and testing.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Troubleshooting was needed to identify and fix network issues. </a:t>
            </a:r>
          </a:p>
        </p:txBody>
      </p:sp>
    </p:spTree>
    <p:extLst>
      <p:ext uri="{BB962C8B-B14F-4D97-AF65-F5344CB8AC3E}">
        <p14:creationId xmlns:p14="http://schemas.microsoft.com/office/powerpoint/2010/main" val="885448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How Issues Were Resolved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100264" y="2645056"/>
            <a:ext cx="687079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Checked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cable connections and device interfaces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Verified IP addresses and DHCP settings.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Corrected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switch connection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that was down.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network commands to verify routing and protocols.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Tested connectivity using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ping and simulation mode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Rechecked configurations after making changes </a:t>
            </a:r>
          </a:p>
        </p:txBody>
      </p:sp>
    </p:spTree>
    <p:extLst>
      <p:ext uri="{BB962C8B-B14F-4D97-AF65-F5344CB8AC3E}">
        <p14:creationId xmlns:p14="http://schemas.microsoft.com/office/powerpoint/2010/main" val="917436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Conclusion 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2326494"/>
            <a:ext cx="91251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Successfully designed and implemented a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multi-site enterprise network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Connected the Main Office, Branch Office, Management Network, and External Network.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Implemented DHCP, DNS, ARP, OSPF, RIP, BGP, and NAT.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Configured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SSH and Telnet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 remote device management.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Tested network connectivity and verified protocol operation.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Gained practical experience in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network configuration, routing, and troubleshooting. </a:t>
            </a:r>
          </a:p>
        </p:txBody>
      </p:sp>
    </p:spTree>
    <p:extLst>
      <p:ext uri="{BB962C8B-B14F-4D97-AF65-F5344CB8AC3E}">
        <p14:creationId xmlns:p14="http://schemas.microsoft.com/office/powerpoint/2010/main" val="3687832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653718" y="1060642"/>
            <a:ext cx="8825658" cy="2677648"/>
          </a:xfrm>
        </p:spPr>
        <p:txBody>
          <a:bodyPr/>
          <a:lstStyle/>
          <a:p>
            <a:pPr algn="ctr"/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224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820</TotalTime>
  <Words>1196</Words>
  <Application>Microsoft Office PowerPoint</Application>
  <PresentationFormat>Widescreen</PresentationFormat>
  <Paragraphs>244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Algerian</vt:lpstr>
      <vt:lpstr>Arial</vt:lpstr>
      <vt:lpstr>Arial Black</vt:lpstr>
      <vt:lpstr>Century Gothic</vt:lpstr>
      <vt:lpstr>Wingdings</vt:lpstr>
      <vt:lpstr>Wingdings 3</vt:lpstr>
      <vt:lpstr>Ion Boardroom</vt:lpstr>
      <vt:lpstr>Multi-Site Enterprise Network Design and Implementation.</vt:lpstr>
      <vt:lpstr>Introduction </vt:lpstr>
      <vt:lpstr>Topology</vt:lpstr>
      <vt:lpstr>Objectives</vt:lpstr>
      <vt:lpstr>How This Project Supports Industries</vt:lpstr>
      <vt:lpstr>Network Components</vt:lpstr>
      <vt:lpstr>IP Addressing</vt:lpstr>
      <vt:lpstr>DHCP-Dynamic Host Configuration Protocol</vt:lpstr>
      <vt:lpstr>DNS = Domain Name System.</vt:lpstr>
      <vt:lpstr>Address Resolution Protocol (ARP)</vt:lpstr>
      <vt:lpstr>Routing Protocols</vt:lpstr>
      <vt:lpstr>OSPF — Open Shortest Path First</vt:lpstr>
      <vt:lpstr>RIP - Routing Information Protocol</vt:lpstr>
      <vt:lpstr>BGP — Border Gateway Protocol</vt:lpstr>
      <vt:lpstr>NAT — Network Address Translation</vt:lpstr>
      <vt:lpstr>SSH — Secure Shell</vt:lpstr>
      <vt:lpstr>Telnet</vt:lpstr>
      <vt:lpstr>Packet Forwarding </vt:lpstr>
      <vt:lpstr>Testing &amp; Results Content</vt:lpstr>
      <vt:lpstr>Challenges Faced During the Project</vt:lpstr>
      <vt:lpstr>How Issues Were Resolved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Network Implementation </dc:title>
  <dc:creator>HP 240 G9</dc:creator>
  <cp:lastModifiedBy>HP 240 G9</cp:lastModifiedBy>
  <cp:revision>38</cp:revision>
  <dcterms:created xsi:type="dcterms:W3CDTF">2026-10-01T02:01:31Z</dcterms:created>
  <dcterms:modified xsi:type="dcterms:W3CDTF">2026-10-03T15:19:47Z</dcterms:modified>
</cp:coreProperties>
</file>